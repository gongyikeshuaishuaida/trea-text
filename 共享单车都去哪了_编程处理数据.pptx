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32" y="1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627072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920240"/>
            <a:ext cx="9144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共享单车都去哪了？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10896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4.2.2 编程处理数据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114800" y="731520"/>
            <a:ext cx="914400" cy="914400"/>
          </a:xfrm>
          <a:prstGeom prst="ellipse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4114800" y="777240"/>
            <a:ext cx="914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dirty="0">
                <a:solidFill>
                  <a:srgbClr val="000000"/>
                </a:solidFill>
              </a:rPr>
              <a:t>🚲</a:t>
            </a:r>
            <a:endParaRPr lang="en-US" sz="3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情境再现：早上的共享单车都去哪了？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solidFill>
            <a:srgbClr val="E3F2FD"/>
          </a:solidFill>
          <a:ln w="254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2801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上周六早上9点，小明从家里出来，想扫一辆共享单车去商场，可是小区门口一辆车都没有……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57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早上的共享单车都去哪了？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3291840"/>
            <a:ext cx="8229600" cy="1371600"/>
          </a:xfrm>
          <a:prstGeom prst="rect">
            <a:avLst/>
          </a:prstGeom>
          <a:solidFill>
            <a:srgbClr val="F5F5F5"/>
          </a:solidFill>
          <a:ln w="1270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40080" y="34290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请同学们打开学习平台，完成"情境再现"：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384048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点击时间按钮，观察小区门口车辆数变化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记录：几点开始小区门口的车明显减少？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活动一：规划分析流程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为了解决这个问题，我们应该按什么顺序进行分析？</a:t>
            </a:r>
            <a:endParaRPr lang="en-US" sz="1800"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1C51298F-FCF0-5A7D-EB0F-01FE5E8080BE}"/>
              </a:ext>
            </a:extLst>
          </p:cNvPr>
          <p:cNvGrpSpPr/>
          <p:nvPr/>
        </p:nvGrpSpPr>
        <p:grpSpPr>
          <a:xfrm>
            <a:off x="457200" y="1645920"/>
            <a:ext cx="4023360" cy="1005840"/>
            <a:chOff x="457200" y="1645920"/>
            <a:chExt cx="4023360" cy="1005840"/>
          </a:xfrm>
        </p:grpSpPr>
        <p:sp>
          <p:nvSpPr>
            <p:cNvPr id="4" name="Shape 2"/>
            <p:cNvSpPr/>
            <p:nvPr/>
          </p:nvSpPr>
          <p:spPr>
            <a:xfrm>
              <a:off x="457200" y="1645920"/>
              <a:ext cx="4023360" cy="1005840"/>
            </a:xfrm>
            <a:prstGeom prst="rect">
              <a:avLst/>
            </a:prstGeom>
            <a:solidFill>
              <a:srgbClr val="E8F5E9"/>
            </a:solidFill>
            <a:ln w="25400">
              <a:solidFill>
                <a:srgbClr val="4CAF5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" name="Text 3"/>
            <p:cNvSpPr/>
            <p:nvPr/>
          </p:nvSpPr>
          <p:spPr>
            <a:xfrm>
              <a:off x="640080" y="196596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4CAF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A</a:t>
              </a:r>
              <a:endParaRPr lang="en-US" sz="2400" dirty="0"/>
            </a:p>
          </p:txBody>
        </p:sp>
        <p:sp>
          <p:nvSpPr>
            <p:cNvPr id="6" name="Text 4"/>
            <p:cNvSpPr/>
            <p:nvPr/>
          </p:nvSpPr>
          <p:spPr>
            <a:xfrm>
              <a:off x="1188720" y="1874520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3333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根据车消失的时间，确定对哪个时间的车辆数据进行分析</a:t>
              </a:r>
              <a:endParaRPr lang="en-US" sz="1400" dirty="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020F4BA1-890E-F5F2-1AFF-25F8F6B9F545}"/>
              </a:ext>
            </a:extLst>
          </p:cNvPr>
          <p:cNvGrpSpPr/>
          <p:nvPr/>
        </p:nvGrpSpPr>
        <p:grpSpPr>
          <a:xfrm>
            <a:off x="4663440" y="1645920"/>
            <a:ext cx="4023360" cy="1005840"/>
            <a:chOff x="4663440" y="1645920"/>
            <a:chExt cx="4023360" cy="1005840"/>
          </a:xfrm>
        </p:grpSpPr>
        <p:sp>
          <p:nvSpPr>
            <p:cNvPr id="7" name="Shape 5"/>
            <p:cNvSpPr/>
            <p:nvPr/>
          </p:nvSpPr>
          <p:spPr>
            <a:xfrm>
              <a:off x="4663440" y="1645920"/>
              <a:ext cx="4023360" cy="1005840"/>
            </a:xfrm>
            <a:prstGeom prst="rect">
              <a:avLst/>
            </a:prstGeom>
            <a:solidFill>
              <a:srgbClr val="E8F5E9"/>
            </a:solidFill>
            <a:ln w="25400">
              <a:solidFill>
                <a:srgbClr val="4CAF5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" name="Text 6"/>
            <p:cNvSpPr/>
            <p:nvPr/>
          </p:nvSpPr>
          <p:spPr>
            <a:xfrm>
              <a:off x="4846320" y="196596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4CAF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B</a:t>
              </a:r>
              <a:endParaRPr lang="en-US" sz="2400" dirty="0"/>
            </a:p>
          </p:txBody>
        </p:sp>
        <p:sp>
          <p:nvSpPr>
            <p:cNvPr id="9" name="Text 7"/>
            <p:cNvSpPr/>
            <p:nvPr/>
          </p:nvSpPr>
          <p:spPr>
            <a:xfrm>
              <a:off x="5394960" y="1874520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3333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查看各个区域的车辆数据</a:t>
              </a:r>
              <a:endParaRPr lang="en-US" sz="1400" dirty="0"/>
            </a:p>
          </p:txBody>
        </p:sp>
      </p:grp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D3C9D5-DC57-CCD8-5FF1-86A490DF2677}"/>
              </a:ext>
            </a:extLst>
          </p:cNvPr>
          <p:cNvGrpSpPr/>
          <p:nvPr/>
        </p:nvGrpSpPr>
        <p:grpSpPr>
          <a:xfrm>
            <a:off x="4663440" y="2834640"/>
            <a:ext cx="4023360" cy="1005840"/>
            <a:chOff x="4663440" y="2834640"/>
            <a:chExt cx="4023360" cy="1005840"/>
          </a:xfrm>
        </p:grpSpPr>
        <p:sp>
          <p:nvSpPr>
            <p:cNvPr id="13" name="Shape 11"/>
            <p:cNvSpPr/>
            <p:nvPr/>
          </p:nvSpPr>
          <p:spPr>
            <a:xfrm>
              <a:off x="4663440" y="2834640"/>
              <a:ext cx="4023360" cy="1005840"/>
            </a:xfrm>
            <a:prstGeom prst="rect">
              <a:avLst/>
            </a:prstGeom>
            <a:solidFill>
              <a:srgbClr val="E8F5E9"/>
            </a:solidFill>
            <a:ln w="25400">
              <a:solidFill>
                <a:srgbClr val="4CAF5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 12"/>
            <p:cNvSpPr/>
            <p:nvPr/>
          </p:nvSpPr>
          <p:spPr>
            <a:xfrm>
              <a:off x="4846320" y="315468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4CAF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D</a:t>
              </a:r>
              <a:endParaRPr lang="en-US" sz="2400" dirty="0"/>
            </a:p>
          </p:txBody>
        </p:sp>
        <p:sp>
          <p:nvSpPr>
            <p:cNvPr id="15" name="Text 13"/>
            <p:cNvSpPr/>
            <p:nvPr/>
          </p:nvSpPr>
          <p:spPr>
            <a:xfrm>
              <a:off x="5394960" y="3063240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3333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可视化呈现</a:t>
              </a:r>
              <a:endParaRPr lang="en-US" sz="1400" dirty="0"/>
            </a:p>
          </p:txBody>
        </p:sp>
      </p:grpSp>
      <p:sp>
        <p:nvSpPr>
          <p:cNvPr id="16" name="Text 14"/>
          <p:cNvSpPr/>
          <p:nvPr/>
        </p:nvSpPr>
        <p:spPr>
          <a:xfrm>
            <a:off x="6348549" y="378823"/>
            <a:ext cx="2168434" cy="54864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完成实践活动一</a:t>
            </a:r>
            <a:endParaRPr lang="en-US" sz="1800" dirty="0"/>
          </a:p>
        </p:txBody>
      </p: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6E855BB-C59D-3D03-C84F-384DEAE721D4}"/>
              </a:ext>
            </a:extLst>
          </p:cNvPr>
          <p:cNvGrpSpPr/>
          <p:nvPr/>
        </p:nvGrpSpPr>
        <p:grpSpPr>
          <a:xfrm>
            <a:off x="457200" y="2834640"/>
            <a:ext cx="4023360" cy="1005840"/>
            <a:chOff x="457200" y="2834640"/>
            <a:chExt cx="4023360" cy="1005840"/>
          </a:xfrm>
        </p:grpSpPr>
        <p:sp>
          <p:nvSpPr>
            <p:cNvPr id="10" name="Shape 8"/>
            <p:cNvSpPr/>
            <p:nvPr/>
          </p:nvSpPr>
          <p:spPr>
            <a:xfrm>
              <a:off x="457200" y="2834640"/>
              <a:ext cx="4023360" cy="1005840"/>
            </a:xfrm>
            <a:prstGeom prst="rect">
              <a:avLst/>
            </a:prstGeom>
            <a:solidFill>
              <a:srgbClr val="E8F5E9"/>
            </a:solidFill>
            <a:ln w="25400">
              <a:solidFill>
                <a:srgbClr val="4CAF50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Text 9"/>
            <p:cNvSpPr/>
            <p:nvPr/>
          </p:nvSpPr>
          <p:spPr>
            <a:xfrm>
              <a:off x="640080" y="3154680"/>
              <a:ext cx="457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400" b="1" dirty="0">
                  <a:solidFill>
                    <a:srgbClr val="4CAF50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C</a:t>
              </a:r>
              <a:endParaRPr lang="en-US" sz="2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188720" y="3063240"/>
              <a:ext cx="3108960" cy="5486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333333"/>
                  </a:solidFill>
                  <a:latin typeface="Microsoft YaHei" pitchFamily="34" charset="0"/>
                  <a:ea typeface="Microsoft YaHei" pitchFamily="34" charset="-122"/>
                  <a:cs typeface="Microsoft YaHei" pitchFamily="34" charset="-120"/>
                </a:rPr>
                <a:t>查看哪个区域的车最少，哪个区域的车最多</a:t>
              </a:r>
              <a:endParaRPr lang="en-US" sz="14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64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4.5679E-6 L 4.72222E-6 -0.22963 " pathEditMode="relative" rAng="0" ptsTypes="AA">
                                      <p:cBhvr>
                                        <p:cTn id="2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11481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4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72222E-6 -2.59259E-6 L 4.72222E-6 0.23117 " pathEditMode="relative" rAng="0" ptsTypes="AA">
                                      <p:cBhvr>
                                        <p:cTn id="27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163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活动二：筛选——锁定关键时刻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我们发现什么时候开始小区门口的车几乎没有了？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1746705"/>
            <a:ext cx="1418321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 err="1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筛选</a:t>
            </a:r>
            <a:r>
              <a:rPr lang="zh-CN" altLang="en-US" sz="2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2487570"/>
            <a:ext cx="8229600" cy="1882529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8" name="Text 6"/>
          <p:cNvSpPr/>
          <p:nvPr/>
        </p:nvSpPr>
        <p:spPr>
          <a:xfrm>
            <a:off x="548640" y="2579010"/>
            <a:ext cx="80467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pd.read_csv("bike_data.csv")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筛选：从所有时刻记录里，找出8:30的所有行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timebike = df[ df["时间"] _________  ]</a:t>
            </a:r>
            <a:endParaRPr lang="en-US" sz="20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C969CDA5-EBA6-27CA-FB26-7187E31801C0}"/>
              </a:ext>
            </a:extLst>
          </p:cNvPr>
          <p:cNvSpPr/>
          <p:nvPr/>
        </p:nvSpPr>
        <p:spPr>
          <a:xfrm>
            <a:off x="6348549" y="378823"/>
            <a:ext cx="2168434" cy="54864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完成实践活动二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活动三：分组统计——</a:t>
            </a:r>
            <a:r>
              <a:rPr lang="en-US" sz="2800" b="1" dirty="0" err="1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各区域有多少车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为了查看各个区域的车辆数据，我们应该进行什么操作？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457200" y="1816119"/>
            <a:ext cx="8229600" cy="91440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7" name="Text 5"/>
          <p:cNvSpPr/>
          <p:nvPr/>
        </p:nvSpPr>
        <p:spPr>
          <a:xfrm>
            <a:off x="548640" y="1907559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按区域类型分组，求车辆数的总和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 = timebike.groupby(_____).______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57200" y="3304521"/>
            <a:ext cx="8229600" cy="1558485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 sz="2400"/>
          </a:p>
        </p:txBody>
      </p:sp>
      <p:sp>
        <p:nvSpPr>
          <p:cNvPr id="11" name="Text 9"/>
          <p:cNvSpPr/>
          <p:nvPr/>
        </p:nvSpPr>
        <p:spPr>
          <a:xfrm>
            <a:off x="548640" y="3371266"/>
            <a:ext cx="8046720" cy="14003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区域类型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住宅区    8:308:30...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公交站    8:308:30...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商圈      8:308:30...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572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原因：sum()对所有列（包括文字列）都进行了求和，中文文字"相加"变成了字符串拼接</a:t>
            </a:r>
            <a:endParaRPr lang="en-US" sz="1300" dirty="0"/>
          </a:p>
        </p:txBody>
      </p:sp>
      <p:sp>
        <p:nvSpPr>
          <p:cNvPr id="13" name="Text 14">
            <a:extLst>
              <a:ext uri="{FF2B5EF4-FFF2-40B4-BE49-F238E27FC236}">
                <a16:creationId xmlns:a16="http://schemas.microsoft.com/office/drawing/2014/main" id="{62A50BA8-DE71-6AC6-9B7B-2E1D56B49FF9}"/>
              </a:ext>
            </a:extLst>
          </p:cNvPr>
          <p:cNvSpPr/>
          <p:nvPr/>
        </p:nvSpPr>
        <p:spPr>
          <a:xfrm>
            <a:off x="6869156" y="411480"/>
            <a:ext cx="2168434" cy="54864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完成实践活动三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活动三：分组统计——</a:t>
            </a:r>
            <a:r>
              <a:rPr lang="en-US" sz="2800" b="1" dirty="0" err="1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各区域有多少车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我们的重点是看区域和车辆数量，所以只需要对车辆数这一列求和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57200" y="1920240"/>
            <a:ext cx="8229600" cy="109728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按区域类型分组，只对车辆数求和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df1 = timebike.groupby("_____", as_index=False)_____.______</a:t>
            </a:r>
            <a:endParaRPr lang="en-US" sz="1600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73E0754B-DFB6-A1EC-5FD2-DA78F637CF6D}"/>
              </a:ext>
            </a:extLst>
          </p:cNvPr>
          <p:cNvSpPr/>
          <p:nvPr/>
        </p:nvSpPr>
        <p:spPr>
          <a:xfrm>
            <a:off x="6855807" y="388620"/>
            <a:ext cx="2168434" cy="54864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完成实践活动三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活动四：排序——</a:t>
            </a:r>
            <a:r>
              <a:rPr lang="en-US" sz="2800" b="1" dirty="0" err="1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揭示规律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182880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按车辆数降序排列，找到车最多和最少的地方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df2 = df1.sort_values("车辆数", ascending=_______)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print("车最多的区域为：")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print(df2.head(1))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print("车最少的区域为：")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print(df2.tail(1))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5212080"/>
            <a:ext cx="8229600" cy="548640"/>
          </a:xfrm>
          <a:prstGeom prst="rect">
            <a:avLst/>
          </a:prstGeom>
          <a:solidFill>
            <a:srgbClr val="FFF3E0"/>
          </a:solidFill>
          <a:ln w="12700">
            <a:solidFill>
              <a:srgbClr val="FF98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" y="534924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6510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💡 早上8:30，小区门口的车都去哪了？→ 商场或者公交站！</a:t>
            </a:r>
            <a:endParaRPr lang="en-US" sz="1400" dirty="0"/>
          </a:p>
        </p:txBody>
      </p:sp>
      <p:sp>
        <p:nvSpPr>
          <p:cNvPr id="10" name="Text 14">
            <a:extLst>
              <a:ext uri="{FF2B5EF4-FFF2-40B4-BE49-F238E27FC236}">
                <a16:creationId xmlns:a16="http://schemas.microsoft.com/office/drawing/2014/main" id="{2C5D5051-44D6-C466-E7CA-B77175CB8E03}"/>
              </a:ext>
            </a:extLst>
          </p:cNvPr>
          <p:cNvSpPr/>
          <p:nvPr/>
        </p:nvSpPr>
        <p:spPr>
          <a:xfrm>
            <a:off x="6348549" y="378823"/>
            <a:ext cx="2168434" cy="54864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完成实践活动四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活动五：可视化——让数据更直观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为了使数据更加形象直观，我们应该怎么做？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2423160"/>
          </a:xfrm>
          <a:prstGeom prst="rect">
            <a:avLst/>
          </a:prstGeom>
          <a:solidFill>
            <a:srgbClr val="263238"/>
          </a:solidFill>
          <a:ln w="12700">
            <a:solidFill>
              <a:srgbClr val="26323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548640" y="1658983"/>
            <a:ext cx="8046720" cy="218149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plt.rcParams["font.sans-serif"] = ["SimHei"]</a:t>
            </a:r>
            <a:endParaRPr lang="en-US" sz="1600" dirty="0"/>
          </a:p>
          <a:p>
            <a:pPr marL="0" indent="0">
              <a:buNone/>
            </a:pP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画柱形图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plt.bar(_____, _____)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plt.title("8:30各区域共享单车数量对比")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plt.xlabel("区域类型")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plt.ylabel("车辆总数")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EE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600" dirty="0"/>
          </a:p>
        </p:txBody>
      </p:sp>
      <p:sp>
        <p:nvSpPr>
          <p:cNvPr id="12" name="Text 14">
            <a:extLst>
              <a:ext uri="{FF2B5EF4-FFF2-40B4-BE49-F238E27FC236}">
                <a16:creationId xmlns:a16="http://schemas.microsoft.com/office/drawing/2014/main" id="{6E67DE18-17AF-F1F1-0014-10BACF4BDAF3}"/>
              </a:ext>
            </a:extLst>
          </p:cNvPr>
          <p:cNvSpPr/>
          <p:nvPr/>
        </p:nvSpPr>
        <p:spPr>
          <a:xfrm>
            <a:off x="6348549" y="378823"/>
            <a:ext cx="2168434" cy="548640"/>
          </a:xfrm>
          <a:prstGeom prst="roundRect">
            <a:avLst>
              <a:gd name="adj" fmla="val 50000"/>
            </a:avLst>
          </a:prstGeom>
          <a:solidFill>
            <a:srgbClr val="E8F5E9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1800" b="1" dirty="0">
                <a:solidFill>
                  <a:srgbClr val="2196F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完成实践活动五</a:t>
            </a:r>
            <a:endParaRPr lang="en-US" sz="1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数据驱动决策——从发现到行动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假设你是单车公司运营经理，你会做出什么决策？</a:t>
            </a:r>
            <a:endParaRPr lang="en-US" sz="1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7028335"/>
              </p:ext>
            </p:extLst>
          </p:nvPr>
        </p:nvGraphicFramePr>
        <p:xfrm>
          <a:off x="457200" y="1874520"/>
          <a:ext cx="8229600" cy="1645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场景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数据依据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决策行动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196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早高峰前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7:00住宅区车多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无需调度，保持现状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早高峰时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8:30车流向商圈/公交站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从住宅区调车到商圈/公交站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晚高峰前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数据预测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333333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提前从商圈调车回住宅区</a:t>
                      </a:r>
                      <a:endParaRPr lang="en-US" sz="13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3728349"/>
            <a:ext cx="8229600" cy="731520"/>
          </a:xfrm>
          <a:prstGeom prst="rect">
            <a:avLst/>
          </a:prstGeom>
          <a:solidFill>
            <a:srgbClr val="E8F5E9"/>
          </a:solidFill>
          <a:ln w="254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40080" y="3911229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7D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数据驱动决策 —— 用数据发现问题，用数据指导行动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课堂小结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1441682" y="1684632"/>
            <a:ext cx="164592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1441682" y="17303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基于数据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的问题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179042" y="1821792"/>
            <a:ext cx="457200" cy="182880"/>
          </a:xfrm>
          <a:prstGeom prst="rightArrow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3727682" y="1684632"/>
            <a:ext cx="1645920" cy="45720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3727682" y="1730352"/>
            <a:ext cx="1645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编程处理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463040" cy="411480"/>
          </a:xfrm>
          <a:prstGeom prst="rect">
            <a:avLst/>
          </a:prstGeom>
          <a:solidFill>
            <a:srgbClr val="BBDEFB"/>
          </a:solidFill>
          <a:ln w="12700">
            <a:solidFill>
              <a:srgbClr val="BBDEFB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548640" y="2862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读数据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194560" y="2788920"/>
            <a:ext cx="1463040" cy="411480"/>
          </a:xfrm>
          <a:prstGeom prst="rect">
            <a:avLst/>
          </a:prstGeom>
          <a:solidFill>
            <a:srgbClr val="90CAF9"/>
          </a:solidFill>
          <a:ln w="12700">
            <a:solidFill>
              <a:srgbClr val="90CAF9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2194560" y="2862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筛数据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840480" y="2788920"/>
            <a:ext cx="1463040" cy="411480"/>
          </a:xfrm>
          <a:prstGeom prst="rect">
            <a:avLst/>
          </a:prstGeom>
          <a:solidFill>
            <a:srgbClr val="64B5F6"/>
          </a:solidFill>
          <a:ln w="12700">
            <a:solidFill>
              <a:srgbClr val="64B5F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840480" y="2862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算数据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0" y="2788920"/>
            <a:ext cx="1463040" cy="41148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5486400" y="2862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排数据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132320" y="2788920"/>
            <a:ext cx="1463040" cy="411480"/>
          </a:xfrm>
          <a:prstGeom prst="rect">
            <a:avLst/>
          </a:prstGeom>
          <a:solidFill>
            <a:srgbClr val="2196F3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7132320" y="2862072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画数据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013682" y="1684632"/>
            <a:ext cx="1645920" cy="457200"/>
          </a:xfrm>
          <a:prstGeom prst="rect">
            <a:avLst/>
          </a:prstGeom>
          <a:solidFill>
            <a:srgbClr val="4CAF50"/>
          </a:solidFill>
          <a:ln w="12700">
            <a:solidFill>
              <a:srgbClr val="4CAF5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013682" y="1776072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辅助决策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640080" y="4069080"/>
            <a:ext cx="7863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565C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用编程处理数据，用数据驱动决策，解决生活中的问题</a:t>
            </a:r>
            <a:endParaRPr lang="en-US" sz="1600" dirty="0"/>
          </a:p>
        </p:txBody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5002724F-C8FA-67C9-D9BD-7F12938A0568}"/>
              </a:ext>
            </a:extLst>
          </p:cNvPr>
          <p:cNvSpPr/>
          <p:nvPr/>
        </p:nvSpPr>
        <p:spPr>
          <a:xfrm>
            <a:off x="5465042" y="1840080"/>
            <a:ext cx="457200" cy="182880"/>
          </a:xfrm>
          <a:prstGeom prst="rightArrow">
            <a:avLst/>
          </a:prstGeom>
          <a:solidFill>
            <a:srgbClr val="2196F3"/>
          </a:solidFill>
          <a:ln/>
        </p:spPr>
        <p:txBody>
          <a:bodyPr/>
          <a:lstStyle/>
          <a:p>
            <a:endParaRPr lang="zh-CN" altLang="en-US"/>
          </a:p>
        </p:txBody>
      </p:sp>
      <p:sp>
        <p:nvSpPr>
          <p:cNvPr id="24" name="Text 7"/>
          <p:cNvSpPr/>
          <p:nvPr/>
        </p:nvSpPr>
        <p:spPr>
          <a:xfrm>
            <a:off x="457200" y="4783747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电商推荐、交通信号灯、超市货架……背后都有数据分析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368</Words>
  <Application>Microsoft Office PowerPoint</Application>
  <PresentationFormat>全屏显示(16:9)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4" baseType="lpstr">
      <vt:lpstr>Microsoft YaHei</vt:lpstr>
      <vt:lpstr>Arial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共享单车都去哪了？——编程处理数据</dc:title>
  <dc:subject>PptxGenJS Presentation</dc:subject>
  <dc:creator>教学设计</dc:creator>
  <cp:lastModifiedBy>安娜 栉名</cp:lastModifiedBy>
  <cp:revision>2</cp:revision>
  <dcterms:created xsi:type="dcterms:W3CDTF">2026-05-11T09:27:41Z</dcterms:created>
  <dcterms:modified xsi:type="dcterms:W3CDTF">2026-05-11T09:48:27Z</dcterms:modified>
</cp:coreProperties>
</file>